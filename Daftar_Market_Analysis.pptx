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ADVISORY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Competitive Analysis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4D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launch input for a MENA-remote / Jordan-based one-person finance advisory practice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May 2026  ·  Ahmad Al-Hinaiti, Founder  ·  First-Month Launch Input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Jordan's SME sector is large and underserved, while fresh institutional capital is creating demand for investor-grade finance work. Daftar can occupy the gap between freelance generalists and Big Four overhead.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728" cy="96012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49040" y="22860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of Jordan's 167,519 enterprises are SMEs, generating ~50% of private-sector GDP and 60% of new jobs — yet face a documented IFRS compliance gap.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9728" cy="96012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catalyst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34290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$70.5M Manara Ventures fund and the $50M World Bank-backed ISSF 2.0 are injecting capital into growth-stage companies needing pre-audit cleanup and IFRS work.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09728" cy="96012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pricing 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45720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fractional-CFO retainers run $3K–$10K/mo; technical IFRS projects $8K–$25K at regional-firm rates. Daftar prices into the middle.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Window Is Open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167,519 Jordan enterprises are SMEs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46304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373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8006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bank credit reaches SMEs (vs ~25% globally)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21040" y="146304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7373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$70.5M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64108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Manara Ventures fund — 20+ growth-stage targets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60120" y="4983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ISSF 2.0 World Bank–backed startup vehicle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79476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069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800600" y="4983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MENA SME consulting through 2031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3794760"/>
            <a:ext cx="3566160" cy="21031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06908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9.68%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641080" y="49834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remote / virtual advisory — fastest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· Macrothink · Wamda · World Bank · Atlantic Council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Angles, One Priority Order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51560" cy="1371600"/>
          </a:xfrm>
          <a:prstGeom prst="rect">
            <a:avLst/>
          </a:prstGeom>
          <a:solidFill>
            <a:srgbClr val="A834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74520" y="15087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CFO / Investor Readiness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74520" y="198424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time-to-revenue. Sharp, time-bound trigger signals; ICP is digitally findable; active MENA funding environment.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1417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1–3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1051560" cy="13716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0088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74520" y="308152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Finance Advisory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355701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addressable market and strongest technical differentiation. IFRS-for-SMEs adoption creates a multi-year cleanup wave.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0" y="2990088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3–6 WEEKS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1051560" cy="13716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62856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74520" y="465429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Finance Desk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74520" y="512978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retainer value but slowest trust-build. Best structured as an upsell from an initial project engagement.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4562856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1–3 MONTHS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Angle 1 and Angle 2 in parallel; convert project clients into the Finance Desk once trust is established.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Competitive Wedge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4D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sits in the gap each incumbent leaves open.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Four (Jordan)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904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but priced for $20M+ revenue; the partner who sells rarely does the work.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0392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at a fraction of cost — the founder does the 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620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firms (RSM/BDO/PKF)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286207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but generalist; IFRS is one service among many, with engagement minimums.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0" y="28620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positioning + fixed-scope clarity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9534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firms &amp; freelancers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89534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cheap, but thin on IFRS 15 / 16 / IAS 37 technical depth.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03920" y="389534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Rigor, credibility, and genuine technical expertise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2803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2861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fractional-CFO platforms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492861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US-indexed pricing, no Arabic, no Jordan regulatory or construction context.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0" y="492861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expertise and local context at MENA pricing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861304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Pricing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scope, fixed fee, fixed timeline — stated upfront. The antidote to open-ended advisory.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solidFill>
            <a:srgbClr val="1A18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1965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against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05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Readiness Pack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cleanup + model + KPI pack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$8K–$18K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0" y="246888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Four: $20K–$50K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881360" cy="713232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369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Pre-Audit Cleanup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+ IFRS memo + adjustments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$5K–$12K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0" y="320040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 of Big Four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684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IFRS Technical Memo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standard: IFRS 15 / 16 / IAS 37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$3.5K–$7K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393192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Sub-regional rate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0881360" cy="713232"/>
          </a:xfrm>
          <a:prstGeom prst="rect">
            <a:avLst/>
          </a:prstGeom>
          <a:solidFill>
            <a:srgbClr val="E4DCC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00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Room Readiness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presentation + disclosures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66344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$4K–$9K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466344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from readiness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4315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Finance Desk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 + cash plan + reporting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5394960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$2K–$4.5K /mo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0" y="539496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MENA retainer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Five Lead Targets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3716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Abwaab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846320" y="137160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Education acquisition → IFRS 3, consolidation, multi-currency (JO/EG/PK).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Tamatem Games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233172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Factory (Turkey) deal → IFRS 3, IAS 21 functional currency.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Liwwa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 covenants + Egypt ops + Series B prep → IFRS 9 ECL complexity.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4251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WashyWash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425196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scalable SME → IFRS 15 / 16 cleanup before funding.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3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Manara Ventures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Fund-level channel: one intro unlocks 20+ portfolio companies.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Launch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0020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77393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4630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LinkedIn brand, package 2–3 fixed-scope offers, build a 10-account target list, publish first IFRS technical post.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2194560"/>
            <a:ext cx="0" cy="411480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24328"/>
            <a:ext cx="731520" cy="73152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243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26243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9352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Outreach Batch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624328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personalized messages to top leads; activate referrals with five former colleagues; second technical post.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3355848"/>
            <a:ext cx="0" cy="411480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85616"/>
            <a:ext cx="731520" cy="73152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856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37856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40965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785616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3–5 discovery calls; second outreach batch; VC/accelerator intros (ISSF, Flat6Labs, Oasis500, Manara).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5840" y="4517136"/>
            <a:ext cx="0" cy="411480"/>
          </a:xfrm>
          <a:prstGeom prst="line">
            <a:avLst/>
          </a:prstGeom>
          <a:noFill/>
          <a:ln w="25400">
            <a:solidFill>
              <a:srgbClr val="E4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46904"/>
            <a:ext cx="731520" cy="731520"/>
          </a:xfrm>
          <a:prstGeom prst="ellipse">
            <a:avLst/>
          </a:prstGeom>
          <a:solidFill>
            <a:srgbClr val="A834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469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00200" y="4946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5257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Revenue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80560" y="4946904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follow-ups; issue one written scope by Day 25; close one engagement by Day 30; run a retrospective.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83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through Investor Readiness, anchor on SME advisory, upsell the Finance Desk.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4DC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wedge is technical depth without the pyramid — a senior specialist at MENA-appropriate, fixed-scope pricing.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estimates: Jordan-specific pricing isn't transparent, GIZ sector data is from 2016–2019, and Manara's portfolio isn't yet named. Treat the figures as a floor and validate through proposals.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2026-05-28T09:18:14Z</dcterms:created>
  <dcterms:modified xsi:type="dcterms:W3CDTF">2026-05-28T09:18:14Z</dcterms:modified>
</cp:coreProperties>
</file>