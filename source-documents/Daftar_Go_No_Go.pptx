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ADVISORY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/ No-Go Memo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4DC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decision, market window, and the first commercial wedge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person who opens the file, writes the memo, and stands behind the number.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846320" cy="914400"/>
          </a:xfrm>
          <a:prstGeom prst="rect">
            <a:avLst/>
          </a:prstGeom>
          <a:solidFill>
            <a:srgbClr val="A834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760720" y="146304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…with a focused wedge.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Lead wedge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27432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Startup CFO / Investor Readiness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0" y="2743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commercial angle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10881360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49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Parallel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3749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SME Finance Advisory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0" y="3749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alongside as a second lead source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0881360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754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Upsell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4754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Fractional Finance Desk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first project has built trust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623560"/>
            <a:ext cx="10881360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Fixed-scope, technical finance work where the buyer needs judgment now but cannot justify Big Four overhead.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practical launch window: companies need investor-grade finance work, but many are too small or too urgent for a Big Four engagement.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566160" cy="3108960"/>
          </a:xfrm>
          <a:prstGeom prst="rect">
            <a:avLst/>
          </a:prstGeom>
          <a:solidFill>
            <a:srgbClr val="1A181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99.5%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Jordan's 167,519 registered enterprises are SMEs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480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constrained finance access and weak IFRS readiness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286000"/>
            <a:ext cx="3566160" cy="3108960"/>
          </a:xfrm>
          <a:prstGeom prst="rect">
            <a:avLst/>
          </a:prstGeom>
          <a:solidFill>
            <a:srgbClr val="1A181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5603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JOD 50M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754880" y="3566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Manara Ventures growth fund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4480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20+ growth-stage Jordanian tech companies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2286000"/>
            <a:ext cx="3566160" cy="3108960"/>
          </a:xfrm>
          <a:prstGeom prst="rect">
            <a:avLst/>
          </a:prstGeom>
          <a:solidFill>
            <a:srgbClr val="1A1814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5603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$50M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595360" y="3566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ISSF 2.0 World Bank–backed vehicle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0" y="4480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startup capital flowing to Jordanian startups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Mordor Intelligence · Macrothink · Wamda · World Bank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Initial Offer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9728" cy="1417320"/>
          </a:xfrm>
          <a:prstGeom prst="rect">
            <a:avLst/>
          </a:prstGeom>
          <a:solidFill>
            <a:srgbClr val="A8341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 Ready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PACKAGE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cleanup · investor model · KPI pack · financial data-room structure. Scope, timeline &amp; exclusions fixed before work begins.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155448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$9K – $16K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881360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200400"/>
            <a:ext cx="109728" cy="1417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Pre-Audit Cleanup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SME WEDGE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 for SMEs approaching a bank facility or first audit.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320040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$5K – $10K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846320"/>
            <a:ext cx="109728" cy="14173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92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Finance Desk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5394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POST-DELIVERY UPSELL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715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only after delivery. 3-month minimum.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484632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$2.5K – $4K /mo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E4DCC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Five Leads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3716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Abwaab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Apex Education acquisition → IFRS 3 &amp; consolidation issues.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67712"/>
            <a:ext cx="10881360" cy="0"/>
          </a:xfrm>
          <a:prstGeom prst="line">
            <a:avLst/>
          </a:prstGeom>
          <a:noFill/>
          <a:ln w="12700">
            <a:solidFill>
              <a:srgbClr val="3A33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Tamatem Games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754880" y="233172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 / Playable Factory deal → IFRS 3, IAS 21 &amp; multi-entity reporting.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10881360" cy="0"/>
          </a:xfrm>
          <a:prstGeom prst="line">
            <a:avLst/>
          </a:prstGeom>
          <a:noFill/>
          <a:ln w="12700">
            <a:solidFill>
              <a:srgbClr val="3A3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54480" y="32918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Liwwa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329184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DFI funding + Egypt ops → reporting-covenant &amp; IFRS 9 complexity.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87952"/>
            <a:ext cx="10881360" cy="0"/>
          </a:xfrm>
          <a:prstGeom prst="line">
            <a:avLst/>
          </a:prstGeom>
          <a:noFill/>
          <a:ln w="12700">
            <a:solidFill>
              <a:srgbClr val="3A33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5196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54480" y="42519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WashyWash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754880" y="425196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scalable SME approaching bank or investor readiness.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148072"/>
            <a:ext cx="10881360" cy="0"/>
          </a:xfrm>
          <a:prstGeom prst="line">
            <a:avLst/>
          </a:prstGeom>
          <a:noFill/>
          <a:ln w="12700">
            <a:solidFill>
              <a:srgbClr val="3A3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1208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Manara Ventures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754880" y="521208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fund relationship can unlock 20+ portfolio companies.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566160" cy="3840480"/>
          </a:xfrm>
          <a:prstGeom prst="rect">
            <a:avLst/>
          </a:prstGeom>
          <a:solidFill>
            <a:srgbClr val="E4DCC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3566160" cy="109728"/>
          </a:xfrm>
          <a:prstGeom prst="rect">
            <a:avLst/>
          </a:prstGeom>
          <a:solidFill>
            <a:srgbClr val="A8341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one-person practice must beat “what if you get sick?” and “why not Big Four?” before larger retainers close.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1645920"/>
            <a:ext cx="3566160" cy="3840480"/>
          </a:xfrm>
          <a:prstGeom prst="rect">
            <a:avLst/>
          </a:prstGeom>
          <a:solidFill>
            <a:srgbClr val="E4DCCB"/>
          </a:solidFill>
          <a:ln/>
        </p:spPr>
      </p:sp>
      <p:sp>
        <p:nvSpPr>
          <p:cNvPr id="8" name="Shape 6"/>
          <p:cNvSpPr/>
          <p:nvPr/>
        </p:nvSpPr>
        <p:spPr>
          <a:xfrm>
            <a:off x="4480560" y="1645920"/>
            <a:ext cx="3566160" cy="109728"/>
          </a:xfrm>
          <a:prstGeom prst="rect">
            <a:avLst/>
          </a:prstGeom>
          <a:solidFill>
            <a:srgbClr val="A8341F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800600" y="274320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fractional-CFO pricing isn't transparent. Test early pricing through proposals, not public announcements.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1645920"/>
            <a:ext cx="3566160" cy="3840480"/>
          </a:xfrm>
          <a:prstGeom prst="rect">
            <a:avLst/>
          </a:prstGeom>
          <a:solidFill>
            <a:srgbClr val="E4DCCB"/>
          </a:solidFill>
          <a:ln/>
        </p:spPr>
      </p:sp>
      <p:sp>
        <p:nvSpPr>
          <p:cNvPr id="12" name="Shape 10"/>
          <p:cNvSpPr/>
          <p:nvPr/>
        </p:nvSpPr>
        <p:spPr>
          <a:xfrm>
            <a:off x="8321040" y="1645920"/>
            <a:ext cx="3566160" cy="109728"/>
          </a:xfrm>
          <a:prstGeom prst="rect">
            <a:avLst/>
          </a:prstGeom>
          <a:solidFill>
            <a:srgbClr val="A8341F"/>
          </a:solidFill>
          <a:ln/>
        </p:spPr>
      </p:sp>
      <p:sp>
        <p:nvSpPr>
          <p:cNvPr id="13" name="Text 11"/>
          <p:cNvSpPr/>
          <p:nvPr/>
        </p:nvSpPr>
        <p:spPr>
          <a:xfrm>
            <a:off x="864108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41080" y="274320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promise depends on fixed scope. Any vague offer turns Daftar into a cheaper consultant, not a sharper alternative.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30-Day Validation Test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777240" cy="777240"/>
          </a:xfrm>
          <a:prstGeom prst="ellipse">
            <a:avLst/>
          </a:prstGeom>
          <a:solidFill>
            <a:srgbClr val="A834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6459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10 highly specific outreach messages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" y="2423160"/>
            <a:ext cx="0" cy="292608"/>
          </a:xfrm>
          <a:prstGeom prst="line">
            <a:avLst/>
          </a:prstGeom>
          <a:noFill/>
          <a:ln w="25400">
            <a:solidFill>
              <a:srgbClr val="E4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15768"/>
            <a:ext cx="777240" cy="777240"/>
          </a:xfrm>
          <a:prstGeom prst="ellipse">
            <a:avLst/>
          </a:prstGeom>
          <a:solidFill>
            <a:srgbClr val="A8341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157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45920" y="271576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271576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3–5 discovery calls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24128" y="3493008"/>
            <a:ext cx="0" cy="292608"/>
          </a:xfrm>
          <a:prstGeom prst="line">
            <a:avLst/>
          </a:prstGeom>
          <a:noFill/>
          <a:ln w="25400">
            <a:solidFill>
              <a:srgbClr val="E4DC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785616"/>
            <a:ext cx="777240" cy="777240"/>
          </a:xfrm>
          <a:prstGeom prst="ellipse">
            <a:avLst/>
          </a:prstGeom>
          <a:solidFill>
            <a:srgbClr val="A8341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8561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45920" y="3785616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3785616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at least one fixed-scope proposal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24128" y="4562856"/>
            <a:ext cx="0" cy="292608"/>
          </a:xfrm>
          <a:prstGeom prst="line">
            <a:avLst/>
          </a:prstGeom>
          <a:noFill/>
          <a:ln w="25400">
            <a:solidFill>
              <a:srgbClr val="E4DC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855464"/>
            <a:ext cx="777240" cy="777240"/>
          </a:xfrm>
          <a:prstGeom prst="ellipse">
            <a:avLst/>
          </a:prstGeom>
          <a:solidFill>
            <a:srgbClr val="A8341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55464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645920" y="4855464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0" y="4855464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one paid engagement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investor-readiness messaging draws no response → pivot the wedge to SME pre-audit cleanup. Calls but no proposals = packaging. Proposals but no close = pricing, urgency, or trust proof.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now — but not as a broad finance advisory firm.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4DC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through urgent technical moments: funding preparation, acquisition accounting, audit cleanup, and financing readiness.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212080"/>
            <a:ext cx="109728" cy="914400"/>
          </a:xfrm>
          <a:prstGeom prst="rect">
            <a:avLst/>
          </a:prstGeom>
          <a:solidFill>
            <a:srgbClr val="A8341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senior person who opens the file, writes the memo, and stands behind the number.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2026-05-28T09:05:43Z</dcterms:created>
  <dcterms:modified xsi:type="dcterms:W3CDTF">2026-05-28T09:05:43Z</dcterms:modified>
</cp:coreProperties>
</file>